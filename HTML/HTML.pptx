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43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2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262E4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572000" cy="4572000"/>
          </a:xfrm>
          <a:prstGeom prst="ellipse">
            <a:avLst/>
          </a:prstGeom>
          <a:solidFill>
            <a:srgbClr val="2E37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62E4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HyperText Markup Language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 •   SEMANTICS   •   BEST PRACTICES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262E42"/>
          </a:solidFill>
          <a:ln w="12700">
            <a:solidFill>
              <a:srgbClr val="3A43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230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20440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262E42"/>
          </a:solidFill>
          <a:ln w="12700">
            <a:solidFill>
              <a:srgbClr val="3A43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5230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332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51206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262E42"/>
          </a:solidFill>
          <a:ln w="12700">
            <a:solidFill>
              <a:srgbClr val="3A43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5230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stands for HyperText Markup Language — the standard language used to build the structure of every web page you visit.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24791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04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2624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contains links to other pages. Clicking a link such as "Home | About | Contact" takes you to another page.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35306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355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80160" y="36758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tags to tell the browser what something is — for example, marking text as a heading.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5822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407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80160" y="4727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a language made up of these tags, each with a defined meaning.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23760" y="137160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1B21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&amp;lt;h1&amp;gt;This is a heading&amp;lt;/h1&amp;gt;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543800" y="2331720"/>
            <a:ext cx="3749040" cy="0"/>
          </a:xfrm>
          <a:prstGeom prst="line">
            <a:avLst/>
          </a:prstGeom>
          <a:noFill/>
          <a:ln w="12700">
            <a:solidFill>
              <a:srgbClr val="3A436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438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543800" y="2880360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726680" y="3017520"/>
            <a:ext cx="128016" cy="12801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3" name="Shape 18"/>
          <p:cNvSpPr/>
          <p:nvPr/>
        </p:nvSpPr>
        <p:spPr>
          <a:xfrm>
            <a:off x="7909560" y="3017520"/>
            <a:ext cx="128016" cy="128016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24" name="Shape 19"/>
          <p:cNvSpPr/>
          <p:nvPr/>
        </p:nvSpPr>
        <p:spPr>
          <a:xfrm>
            <a:off x="8092440" y="301752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0"/>
          <p:cNvSpPr/>
          <p:nvPr/>
        </p:nvSpPr>
        <p:spPr>
          <a:xfrm>
            <a:off x="772668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heading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HTML Was Invented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5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HTML, sharing documents over the internet was difficult. Scientists wanted documents connected together, with easy navigation, images, tables, and forms.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4754880" cy="0"/>
          </a:xfrm>
          <a:prstGeom prst="line">
            <a:avLst/>
          </a:prstGeom>
          <a:noFill/>
          <a:ln w="12700">
            <a:solidFill>
              <a:srgbClr val="DA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108960"/>
            <a:ext cx="640080" cy="64008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2753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HTML was created by </a:t>
            </a:r>
            <a:r>
              <a:rPr lang="en-US" sz="13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</a:t>
            </a:r>
            <a:r>
              <a:rPr lang="en-US" sz="130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1991 — connecting the world's documents through hyperlinks.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63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HTML Does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6382512" y="2130552"/>
            <a:ext cx="457200" cy="45720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24942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05740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heading is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63640" y="278892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82512" y="2862072"/>
            <a:ext cx="457200" cy="45720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98094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278892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paragraph is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52044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2512" y="3593592"/>
            <a:ext cx="457200" cy="45720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71246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52044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image is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63640" y="425196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</p:spPr>
      </p:sp>
      <p:sp>
        <p:nvSpPr>
          <p:cNvPr id="24" name="Shape 18"/>
          <p:cNvSpPr/>
          <p:nvPr/>
        </p:nvSpPr>
        <p:spPr>
          <a:xfrm>
            <a:off x="6382512" y="4325112"/>
            <a:ext cx="457200" cy="45720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444398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95160" y="42519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button is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263640" y="498348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</p:spPr>
      </p:sp>
      <p:sp>
        <p:nvSpPr>
          <p:cNvPr id="28" name="Shape 21"/>
          <p:cNvSpPr/>
          <p:nvPr/>
        </p:nvSpPr>
        <p:spPr>
          <a:xfrm>
            <a:off x="6382512" y="5056632"/>
            <a:ext cx="457200" cy="45720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5175504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498348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form is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page starts with this basic skeleton.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B21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4F5F8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59" y="214243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7220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72200" y="3017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this document uses HTML5. Always write it first.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06840" y="17830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4F5F8"/>
          </a:solidFill>
          <a:ln/>
        </p:spPr>
      </p:sp>
      <p:sp>
        <p:nvSpPr>
          <p:cNvPr id="13" name="Shape 10"/>
          <p:cNvSpPr/>
          <p:nvPr/>
        </p:nvSpPr>
        <p:spPr>
          <a:xfrm>
            <a:off x="9235440" y="2011680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6199" y="214243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3544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 Tag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235440" y="3017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element — everything else in the page lives inside it.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0" y="40690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4F5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172200" y="4297680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959" y="442843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Tag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72200" y="5303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info about the page not visible on the page itself, e.g. &lt;title&gt;.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40690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4F5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235440" y="4297680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6199" y="44284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 Tag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35440" y="5303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everything that is visible on the webpage.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HTML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B21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First Page&lt;/title&gt;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&lt;h1&gt;Welcome to HTML&lt;/h1&gt;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webpage.&lt;/p&gt;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50876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4F5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46520" y="1508760"/>
            <a:ext cx="5166360" cy="457200"/>
          </a:xfrm>
          <a:prstGeom prst="rect">
            <a:avLst/>
          </a:prstGeom>
          <a:solidFill>
            <a:srgbClr val="E4E7EE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166420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9" name="Shape 7"/>
          <p:cNvSpPr/>
          <p:nvPr/>
        </p:nvSpPr>
        <p:spPr>
          <a:xfrm>
            <a:off x="6885432" y="1664208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10" name="Shape 8"/>
          <p:cNvSpPr/>
          <p:nvPr/>
        </p:nvSpPr>
        <p:spPr>
          <a:xfrm>
            <a:off x="7095744" y="166420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600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Page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24231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HTML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03720" y="3108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first webpage.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Elements &amp; Attributes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Element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1B21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24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r>
              <a:rPr lang="en-US" sz="24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F4F5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tag:  </a:t>
            </a:r>
            <a:r>
              <a:rPr lang="en-US" sz="1150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278892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 </a:t>
            </a:r>
            <a:r>
              <a:rPr lang="en-US" sz="1150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278892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tag:  </a:t>
            </a:r>
            <a:r>
              <a:rPr lang="en-US" sz="1150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provide extra information about an element.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src="cat.jpg"&gt;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446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href="https://google.com"&gt;Google&lt;/a&gt;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3611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40233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41605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by the browser — useful for leaving notes in your code.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4800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is a comment --&gt;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3611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2130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4160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&lt;tag attribute=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&lt;/tag&gt;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 &amp; 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Heading Levels — use only one &lt;h1&gt; per page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675120" cy="2651760"/>
          </a:xfrm>
          <a:prstGeom prst="roundRect">
            <a:avLst>
              <a:gd name="adj" fmla="val 2759"/>
            </a:avLst>
          </a:prstGeom>
          <a:solidFill>
            <a:srgbClr val="F4F5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3682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5753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8288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B2130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paragraph.&lt;/p&gt;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paragraph.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32004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1B2130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Break &lt;br&gt;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Hello&lt;br&gt;World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572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B2130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 &lt;hr&gt;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1&lt;hr&gt;Chapter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26680" y="5468112"/>
            <a:ext cx="3566160" cy="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heading order communicates document hierarchy to screen readers and search engines.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means meaningful. Semantic tags clearly describe what their content represents — instead of generic &lt;div&gt; containers for everything.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Non-Semantic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13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class="header"&gt;...&lt;/div&gt;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class="menu"&gt;...&lt;/div&gt;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class="content"&gt;...&lt;/div&gt;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2A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class="footer"&gt;...&lt;/div&gt;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is a &lt;div&gt; — you need class names to understand its purpose.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13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&lt;header&gt;...&lt;/header&gt;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&lt;nav&gt;...&lt;/nav&gt;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&lt;main&gt;...&lt;/main&gt;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&lt;footer&gt;...&lt;/footer&gt;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4160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immediately clear — no class names needed.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Semantic HTML?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62E4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343E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can understand and navigate content correctly.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62E42"/>
          </a:solidFill>
          <a:ln/>
        </p:spPr>
      </p:sp>
      <p:sp>
        <p:nvSpPr>
          <p:cNvPr id="10" name="Shape 7"/>
          <p:cNvSpPr/>
          <p:nvPr/>
        </p:nvSpPr>
        <p:spPr>
          <a:xfrm>
            <a:off x="3886200" y="2194560"/>
            <a:ext cx="731520" cy="731520"/>
          </a:xfrm>
          <a:prstGeom prst="ellipse">
            <a:avLst/>
          </a:prstGeom>
          <a:solidFill>
            <a:srgbClr val="343E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395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94760" y="3840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better understand page structure and relevance.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922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62E42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0" y="2194560"/>
            <a:ext cx="731520" cy="731520"/>
          </a:xfrm>
          <a:prstGeom prst="ellipse">
            <a:avLst/>
          </a:prstGeom>
          <a:solidFill>
            <a:srgbClr val="343E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195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Read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66560" y="3840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tags make code easier to read and maintain.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640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62E42"/>
          </a:solidFill>
          <a:ln/>
        </p:spPr>
      </p:sp>
      <p:sp>
        <p:nvSpPr>
          <p:cNvPr id="20" name="Shape 15"/>
          <p:cNvSpPr/>
          <p:nvPr/>
        </p:nvSpPr>
        <p:spPr>
          <a:xfrm>
            <a:off x="9829800" y="2194560"/>
            <a:ext cx="731520" cy="731520"/>
          </a:xfrm>
          <a:prstGeom prst="ellipse">
            <a:avLst/>
          </a:prstGeom>
          <a:solidFill>
            <a:srgbClr val="343E5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9995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383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Organized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738360" y="3840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has a clear, self-documenting purpose.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Semantic Tags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content: logo, site title, search bar, navigation.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108960"/>
            <a:ext cx="4709160" cy="0"/>
          </a:xfrm>
          <a:prstGeom prst="line">
            <a:avLst/>
          </a:prstGeom>
          <a:noFill/>
          <a:ln w="12700">
            <a:solidFill>
              <a:srgbClr val="DA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544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080760" y="155448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1828800"/>
            <a:ext cx="548640" cy="54864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19714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55080" y="2468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 — main menu, sidebar menu, pagination.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55080" y="3108960"/>
            <a:ext cx="4709160" cy="0"/>
          </a:xfrm>
          <a:prstGeom prst="line">
            <a:avLst/>
          </a:prstGeom>
          <a:noFill/>
          <a:ln w="12700">
            <a:solidFill>
              <a:srgbClr val="DADE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80760" y="15544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44032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297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2960" y="49377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primary, unique content of the page. Only one per page.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2960" y="5577840"/>
            <a:ext cx="4709160" cy="0"/>
          </a:xfrm>
          <a:prstGeom prst="line">
            <a:avLst/>
          </a:prstGeom>
          <a:noFill/>
          <a:ln w="12700">
            <a:solidFill>
              <a:srgbClr val="DADEE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0233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6080760" y="40233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4F5F8"/>
          </a:solidFill>
          <a:ln/>
        </p:spPr>
      </p:sp>
      <p:sp>
        <p:nvSpPr>
          <p:cNvPr id="26" name="Shape 21"/>
          <p:cNvSpPr/>
          <p:nvPr/>
        </p:nvSpPr>
        <p:spPr>
          <a:xfrm>
            <a:off x="6355080" y="4297680"/>
            <a:ext cx="548640" cy="54864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26" y="4440326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4297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355080" y="49377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thematic grouping of related content — like a chapter in a book.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355080" y="5577840"/>
            <a:ext cx="4709160" cy="0"/>
          </a:xfrm>
          <a:prstGeom prst="line">
            <a:avLst/>
          </a:prstGeom>
          <a:noFill/>
          <a:ln w="12700">
            <a:solidFill>
              <a:srgbClr val="DADEE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080760" y="402336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Semantic Tags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18955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piece of content: blog post, news article, forum post.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33672" y="1508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89704" y="1764792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463" y="189555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9704" y="274320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secondary content: ads, related articles, author bio.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18704" y="15087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174736" y="1764792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495" y="18955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74736" y="274320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information: copyright, contact details, social links.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69664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" y="4300423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8231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 / &lt;figcaption&gt;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148072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an image, chart, or diagram with a caption.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33672" y="3913632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5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9704" y="4169664"/>
            <a:ext cx="502920" cy="50292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463" y="4300423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9704" y="478231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&lt;time&gt;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9704" y="5148072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dates or times, e.g. publish dates or event times.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semantic page layout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26080" y="1691640"/>
            <a:ext cx="6309360" cy="594360"/>
          </a:xfrm>
          <a:prstGeom prst="roundRect">
            <a:avLst>
              <a:gd name="adj" fmla="val 9231"/>
            </a:avLst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6916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Tech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377440"/>
            <a:ext cx="6309360" cy="457200"/>
          </a:xfrm>
          <a:prstGeom prst="rect">
            <a:avLst/>
          </a:prstGeom>
          <a:solidFill>
            <a:srgbClr val="3A436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2377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— Home | Courses | Contact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926080"/>
            <a:ext cx="4164178" cy="2377440"/>
          </a:xfrm>
          <a:prstGeom prst="rect">
            <a:avLst/>
          </a:prstGeom>
          <a:solidFill>
            <a:srgbClr val="262E42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3108960"/>
            <a:ext cx="3706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Latest Tutorials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3520440"/>
            <a:ext cx="37069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 Basics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CSS Basics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7418" y="2926080"/>
            <a:ext cx="2008022" cy="2377440"/>
          </a:xfrm>
          <a:prstGeom prst="rect">
            <a:avLst/>
          </a:prstGeom>
          <a:solidFill>
            <a:srgbClr val="2E3752"/>
          </a:solidFill>
          <a:ln/>
        </p:spPr>
      </p:sp>
      <p:sp>
        <p:nvSpPr>
          <p:cNvPr id="13" name="Text 11"/>
          <p:cNvSpPr/>
          <p:nvPr/>
        </p:nvSpPr>
        <p:spPr>
          <a:xfrm>
            <a:off x="7456018" y="3108960"/>
            <a:ext cx="15508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ASIDE: Popular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6018" y="3520440"/>
            <a:ext cx="15508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5303520"/>
            <a:ext cx="6309360" cy="548640"/>
          </a:xfrm>
          <a:prstGeom prst="rect">
            <a:avLst/>
          </a:prstGeom>
          <a:solidFill>
            <a:srgbClr val="3A436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53035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— © 2026 Tech Learning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011680"/>
            <a:ext cx="914400" cy="914400"/>
          </a:xfrm>
          <a:prstGeom prst="ellipse">
            <a:avLst/>
          </a:prstGeom>
          <a:solidFill>
            <a:srgbClr val="262E42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49424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&lt;header&gt;, &lt;nav&gt;, &lt;main&gt;, &lt;section&gt;,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&lt;aside&gt;, and &lt;footer&gt; each map to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region of the page.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Tag Should I Use?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want to create...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this tag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title of the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&lt;header&gt;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Introductory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menu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&lt;nav&gt;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navigation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&lt;main&gt;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page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chapter or 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&lt;section&gt;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related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blog / news 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&lt;article&gt;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stand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or related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&lt;aside&gt;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 / contact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&lt;footer&gt;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with caption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&lt;figure&gt; + &lt;figcaption&gt;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Associates media with a caption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44D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&lt;time&gt;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dates/times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36192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6835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is HTML?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8105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markup language used to structure content on web pages.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27077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4871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is a semantic tag?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28346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that clearly describes the purpose of its content, aiding readability and understanding.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1985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584448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37318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11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&lt;section&gt; vs &lt;article&gt;?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8587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&lt;section&gt; groups related content by theme; &lt;article&gt; is independent, self-contained content.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4398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08576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75597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354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Why is semantic HTML important?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4882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 readability, accessibility, SEO, and maintainability.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6811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632704"/>
            <a:ext cx="566928" cy="566928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578010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559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Multiple &lt;header&gt; elements?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54480" y="59070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one main page header plus headers inside sections/articles. Only one &lt;main&gt; though.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62E42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1463040"/>
            <a:ext cx="1280160" cy="1280160"/>
          </a:xfrm>
          <a:prstGeom prst="ellipse">
            <a:avLst/>
          </a:prstGeom>
          <a:solidFill>
            <a:srgbClr val="262E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02" y="179588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175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37947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gives your ideas structure. CSS and JavaScript are next.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•  SEMANTICS  •  BEST PRACTICES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1249</Words>
  <Application>Microsoft Office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HTML: A Beginner-Friendly Guide</dc:title>
  <dc:subject>PptxGenJS Presentation</dc:subject>
  <dc:creator>HTML Guide</dc:creator>
  <cp:lastModifiedBy>Panuganti Sreenivas</cp:lastModifiedBy>
  <cp:revision>1</cp:revision>
  <dcterms:created xsi:type="dcterms:W3CDTF">2026-07-07T06:17:32Z</dcterms:created>
  <dcterms:modified xsi:type="dcterms:W3CDTF">2026-07-07T06:23:35Z</dcterms:modified>
</cp:coreProperties>
</file>